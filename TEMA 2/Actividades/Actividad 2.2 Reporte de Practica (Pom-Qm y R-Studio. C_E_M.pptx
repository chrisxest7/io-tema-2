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14630400" cy="8229600"/>
  <p:notesSz cx="8229600" cy="14630400"/>
  <p:embeddedFontLst>
    <p:embeddedFont>
      <p:font typeface="DM Sans Semi Bold" panose="020B0604020202020204" charset="0"/>
      <p:regular r:id="rId10"/>
    </p:embeddedFont>
    <p:embeddedFont>
      <p:font typeface="Inter Medium" panose="020B0604020202020204" charset="0"/>
      <p:regular r:id="rId11"/>
    </p:embeddedFont>
  </p:embeddedFontLst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8" d="100"/>
          <a:sy n="58" d="100"/>
        </p:scale>
        <p:origin x="5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96697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MX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posit.co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06508942-A0C7-DA73-1164-B1B4A9FE34D0}"/>
              </a:ext>
            </a:extLst>
          </p:cNvPr>
          <p:cNvSpPr txBox="1"/>
          <p:nvPr/>
        </p:nvSpPr>
        <p:spPr>
          <a:xfrm>
            <a:off x="176268" y="2048242"/>
            <a:ext cx="863722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MATERIA</a:t>
            </a:r>
            <a:r>
              <a:rPr lang="es-ES" sz="3200" dirty="0"/>
              <a:t>: Estructura de Datos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ALUMNO</a:t>
            </a:r>
            <a:r>
              <a:rPr lang="es-ES" sz="3200" dirty="0"/>
              <a:t>: Christian Esteban Mendoza</a:t>
            </a:r>
          </a:p>
          <a:p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CARRERA</a:t>
            </a:r>
            <a:r>
              <a:rPr lang="es-ES" sz="3200" dirty="0"/>
              <a:t>: Ingeniería en Sistemas Computacionales</a:t>
            </a:r>
          </a:p>
          <a:p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NC</a:t>
            </a:r>
            <a:r>
              <a:rPr lang="es-ES" sz="3200" dirty="0"/>
              <a:t>: 241260066</a:t>
            </a:r>
          </a:p>
          <a:p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DOCENTE</a:t>
            </a:r>
            <a:r>
              <a:rPr lang="es-ES" sz="3200" dirty="0"/>
              <a:t>: Ing. Mingo Velázquez Francisco Javier</a:t>
            </a:r>
          </a:p>
          <a:p>
            <a:endParaRPr lang="es-ES" sz="32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3200" b="1" dirty="0"/>
              <a:t>FECHA</a:t>
            </a:r>
            <a:r>
              <a:rPr lang="es-ES" sz="3200" dirty="0"/>
              <a:t>: 17 de octubre de 2025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901C3CB-431F-46F8-A4D3-F5B6D9DD7A93}"/>
              </a:ext>
            </a:extLst>
          </p:cNvPr>
          <p:cNvSpPr txBox="1"/>
          <p:nvPr/>
        </p:nvSpPr>
        <p:spPr>
          <a:xfrm>
            <a:off x="44067" y="1219984"/>
            <a:ext cx="909993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3200" b="1" dirty="0"/>
              <a:t>INSTITUTO TECNOLÓGICO DE FRONTERA COMALAPA </a:t>
            </a:r>
            <a:endParaRPr lang="es-MX" sz="3200" dirty="0"/>
          </a:p>
        </p:txBody>
      </p:sp>
      <p:pic>
        <p:nvPicPr>
          <p:cNvPr id="10" name="Picture 167">
            <a:extLst>
              <a:ext uri="{FF2B5EF4-FFF2-40B4-BE49-F238E27FC236}">
                <a16:creationId xmlns:a16="http://schemas.microsoft.com/office/drawing/2014/main" id="{E26274EE-1621-D4BF-8183-3602794661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17" y="235294"/>
            <a:ext cx="3473784" cy="725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73">
            <a:extLst>
              <a:ext uri="{FF2B5EF4-FFF2-40B4-BE49-F238E27FC236}">
                <a16:creationId xmlns:a16="http://schemas.microsoft.com/office/drawing/2014/main" id="{123D2EE5-3922-CC9F-C192-6B636BA3F9A0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4170736" y="170596"/>
            <a:ext cx="1557243" cy="736556"/>
          </a:xfrm>
          <a:prstGeom prst="rect">
            <a:avLst/>
          </a:prstGeom>
        </p:spPr>
      </p:pic>
      <p:pic>
        <p:nvPicPr>
          <p:cNvPr id="12" name="Picture 175">
            <a:extLst>
              <a:ext uri="{FF2B5EF4-FFF2-40B4-BE49-F238E27FC236}">
                <a16:creationId xmlns:a16="http://schemas.microsoft.com/office/drawing/2014/main" id="{ED3ED471-BC05-A5DF-E87A-7925F8CD78E6}"/>
              </a:ext>
            </a:extLst>
          </p:cNvPr>
          <p:cNvPicPr/>
          <p:nvPr/>
        </p:nvPicPr>
        <p:blipFill>
          <a:blip r:embed="rId6"/>
          <a:stretch>
            <a:fillRect/>
          </a:stretch>
        </p:blipFill>
        <p:spPr>
          <a:xfrm>
            <a:off x="6584320" y="213475"/>
            <a:ext cx="1401803" cy="888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675" y="646628"/>
            <a:ext cx="4540687" cy="5675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Introducción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635675" y="1486614"/>
            <a:ext cx="7872651" cy="1162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 análisis de redes es una herramienta fundamental en la investigación de operaciones y en la toma de decisiones en sistemas complejos. Permite representar gráficamente y resolver problemas relacionados con el flujo de recursos, la planificación de proyectos, la asignación de tareas y la optimización de rutas.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5675" y="2852976"/>
            <a:ext cx="7872651" cy="1046321"/>
          </a:xfrm>
          <a:prstGeom prst="roundRect">
            <a:avLst>
              <a:gd name="adj" fmla="val 260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6" name="Text 3"/>
          <p:cNvSpPr/>
          <p:nvPr/>
        </p:nvSpPr>
        <p:spPr>
          <a:xfrm>
            <a:off x="817245" y="3034546"/>
            <a:ext cx="2605207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Problema de transporte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17245" y="3427214"/>
            <a:ext cx="750951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Optimización del flujo de recursos entre múltiples puntos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35675" y="4080867"/>
            <a:ext cx="7872651" cy="1046321"/>
          </a:xfrm>
          <a:prstGeom prst="roundRect">
            <a:avLst>
              <a:gd name="adj" fmla="val 260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9" name="Text 6"/>
          <p:cNvSpPr/>
          <p:nvPr/>
        </p:nvSpPr>
        <p:spPr>
          <a:xfrm>
            <a:off x="817245" y="4262438"/>
            <a:ext cx="2611160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Problema de asignación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817245" y="4655106"/>
            <a:ext cx="750951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Distribución óptima de tareas y recursos disponibles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5675" y="5308759"/>
            <a:ext cx="7872651" cy="1046321"/>
          </a:xfrm>
          <a:prstGeom prst="roundRect">
            <a:avLst>
              <a:gd name="adj" fmla="val 260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2" name="Text 9"/>
          <p:cNvSpPr/>
          <p:nvPr/>
        </p:nvSpPr>
        <p:spPr>
          <a:xfrm>
            <a:off x="817245" y="5490329"/>
            <a:ext cx="2270284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Ruta más corta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817245" y="5882997"/>
            <a:ext cx="750951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Minimización de distancias y costos en trayectorias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5675" y="6536650"/>
            <a:ext cx="7872651" cy="1046321"/>
          </a:xfrm>
          <a:prstGeom prst="roundRect">
            <a:avLst>
              <a:gd name="adj" fmla="val 2604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817245" y="6718221"/>
            <a:ext cx="2270284" cy="2837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PERT/CPM</a:t>
            </a:r>
            <a:endParaRPr lang="en-US" sz="1750" dirty="0"/>
          </a:p>
        </p:txBody>
      </p:sp>
      <p:sp>
        <p:nvSpPr>
          <p:cNvPr id="16" name="Text 13"/>
          <p:cNvSpPr/>
          <p:nvPr/>
        </p:nvSpPr>
        <p:spPr>
          <a:xfrm>
            <a:off x="817245" y="7110889"/>
            <a:ext cx="750951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Programación y control de proyectos complejos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126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51853" y="601385"/>
            <a:ext cx="5468064" cy="6835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50"/>
              </a:lnSpc>
              <a:buNone/>
            </a:pPr>
            <a:r>
              <a:rPr lang="en-US" sz="43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Justificación</a:t>
            </a:r>
            <a:endParaRPr lang="en-US" sz="4300" dirty="0"/>
          </a:p>
        </p:txBody>
      </p:sp>
      <p:sp>
        <p:nvSpPr>
          <p:cNvPr id="4" name="Text 1"/>
          <p:cNvSpPr/>
          <p:nvPr/>
        </p:nvSpPr>
        <p:spPr>
          <a:xfrm>
            <a:off x="6251853" y="1612940"/>
            <a:ext cx="7613094" cy="1749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El estudio de los modelos de redes tiene gran relevancia en la ingeniería industrial, logística y gestión de proyectos. Comprender estos modelos y aplicarlos mediante herramientas computacionales permite a los futuros profesionales enfrentar situaciones reales con soluciones eficientes y fundamentadas.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51853" y="3827264"/>
            <a:ext cx="2935724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POM-QM for Windows</a:t>
            </a:r>
            <a:endParaRPr lang="en-US" sz="2150" dirty="0"/>
          </a:p>
        </p:txBody>
      </p:sp>
      <p:sp>
        <p:nvSpPr>
          <p:cNvPr id="6" name="Text 3"/>
          <p:cNvSpPr/>
          <p:nvPr/>
        </p:nvSpPr>
        <p:spPr>
          <a:xfrm>
            <a:off x="6251853" y="4387691"/>
            <a:ext cx="3539728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Interfaz amigable que facilita la resolución de problemas mediante métodos clásicos de investigación de operaciones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0332839" y="3827264"/>
            <a:ext cx="2734032" cy="3417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RStudio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10332839" y="4387691"/>
            <a:ext cx="3539728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Entorno de programación estadística que permite mayor personalización y automatización del análisis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251853" y="6230183"/>
            <a:ext cx="7613094" cy="13996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 práctica permitió reforzar conceptos teóricos y desarrollar habilidades prácticas en el uso de software para la resolución de problemas reales, optimizando procesos y recursos para una toma de decisiones más eficaz.</a:t>
            </a:r>
            <a:endParaRPr lang="en-US" sz="1700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174027E8-0BC2-1BDE-EACA-08A2B6A595FF}"/>
              </a:ext>
            </a:extLst>
          </p:cNvPr>
          <p:cNvSpPr/>
          <p:nvPr/>
        </p:nvSpPr>
        <p:spPr>
          <a:xfrm>
            <a:off x="12823634" y="7786807"/>
            <a:ext cx="1696597" cy="44279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238B3B65-7648-5B6C-1C70-89E60FEA64DA}"/>
              </a:ext>
            </a:extLst>
          </p:cNvPr>
          <p:cNvSpPr/>
          <p:nvPr/>
        </p:nvSpPr>
        <p:spPr>
          <a:xfrm>
            <a:off x="12823634" y="7786807"/>
            <a:ext cx="1696597" cy="44279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1F722C-A696-7EA0-6B3C-326CD26AF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1355" y="589169"/>
            <a:ext cx="7877060" cy="3973714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551FBD79-E1BE-B57B-96C0-B43E8F967CD2}"/>
              </a:ext>
            </a:extLst>
          </p:cNvPr>
          <p:cNvSpPr txBox="1"/>
          <p:nvPr/>
        </p:nvSpPr>
        <p:spPr>
          <a:xfrm>
            <a:off x="5541485" y="219836"/>
            <a:ext cx="418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Ejercicio de R-</a:t>
            </a:r>
            <a:r>
              <a:rPr lang="es-MX" dirty="0" err="1"/>
              <a:t>studio</a:t>
            </a:r>
            <a:endParaRPr lang="es-MX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31FA341-E670-1C18-E0D3-B3D7E68EC51E}"/>
              </a:ext>
            </a:extLst>
          </p:cNvPr>
          <p:cNvSpPr txBox="1"/>
          <p:nvPr/>
        </p:nvSpPr>
        <p:spPr>
          <a:xfrm>
            <a:off x="5144877" y="4562883"/>
            <a:ext cx="937535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¿Qué hace el código?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Carga la librería </a:t>
            </a:r>
            <a:r>
              <a:rPr lang="es-MX" b="1" dirty="0" err="1">
                <a:latin typeface="Courier New" panose="02070309020205020404" pitchFamily="49" charset="0"/>
              </a:rPr>
              <a:t>lpSolve</a:t>
            </a:r>
            <a:r>
              <a:rPr lang="es-MX" dirty="0"/>
              <a:t>:</a:t>
            </a:r>
            <a:br>
              <a:rPr lang="es-MX" dirty="0"/>
            </a:br>
            <a:r>
              <a:rPr lang="es-MX" dirty="0"/>
              <a:t>Necesaria para resolver problemas de programación lineal.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Define la matriz de costos</a:t>
            </a:r>
            <a:r>
              <a:rPr lang="es-MX" dirty="0"/>
              <a:t>:</a:t>
            </a:r>
            <a:br>
              <a:rPr lang="es-MX" dirty="0"/>
            </a:br>
            <a:r>
              <a:rPr lang="es-MX" dirty="0"/>
              <a:t>Representa el costo de asignar a cada trabajador (A, B, C) a cada tarea (1, 2, 3).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Resuelve el problema de asignación</a:t>
            </a:r>
            <a:r>
              <a:rPr lang="es-MX" dirty="0"/>
              <a:t>:</a:t>
            </a:r>
            <a:br>
              <a:rPr lang="es-MX" dirty="0"/>
            </a:br>
            <a:r>
              <a:rPr lang="es-MX" dirty="0" err="1">
                <a:latin typeface="Courier New" panose="02070309020205020404" pitchFamily="49" charset="0"/>
              </a:rPr>
              <a:t>lp.assign</a:t>
            </a:r>
            <a:r>
              <a:rPr lang="es-MX" dirty="0">
                <a:latin typeface="Courier New" panose="02070309020205020404" pitchFamily="49" charset="0"/>
              </a:rPr>
              <a:t>()</a:t>
            </a:r>
            <a:r>
              <a:rPr lang="es-MX" dirty="0"/>
              <a:t> encuentra la asignación óptima con el menor costo total.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Muestra resultados</a:t>
            </a:r>
            <a:r>
              <a:rPr lang="es-MX" dirty="0"/>
              <a:t>: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dirty="0" err="1">
                <a:latin typeface="Courier New" panose="02070309020205020404" pitchFamily="49" charset="0"/>
              </a:rPr>
              <a:t>sol$solution</a:t>
            </a:r>
            <a:r>
              <a:rPr lang="es-MX" dirty="0"/>
              <a:t>: Matriz 3x3 con 1s donde se hizo la asignación óptima.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MX" dirty="0" err="1">
                <a:latin typeface="Courier New" panose="02070309020205020404" pitchFamily="49" charset="0"/>
              </a:rPr>
              <a:t>sol$objval</a:t>
            </a:r>
            <a:r>
              <a:rPr lang="es-MX" dirty="0"/>
              <a:t>: Costo total mínimo de la asignación.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Grafica los costos de asignación</a:t>
            </a:r>
            <a:r>
              <a:rPr lang="es-MX" dirty="0"/>
              <a:t>:</a:t>
            </a:r>
            <a:br>
              <a:rPr lang="es-MX" dirty="0"/>
            </a:br>
            <a:r>
              <a:rPr lang="es-MX" dirty="0"/>
              <a:t>Muestra los valores de la matriz original con un gráfico de barras, por tarea y por trabajador.</a:t>
            </a:r>
          </a:p>
        </p:txBody>
      </p:sp>
    </p:spTree>
    <p:extLst>
      <p:ext uri="{BB962C8B-B14F-4D97-AF65-F5344CB8AC3E}">
        <p14:creationId xmlns:p14="http://schemas.microsoft.com/office/powerpoint/2010/main" val="28605912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4404E0FD-676F-8732-4BD2-DB575BBDA09A}"/>
              </a:ext>
            </a:extLst>
          </p:cNvPr>
          <p:cNvSpPr/>
          <p:nvPr/>
        </p:nvSpPr>
        <p:spPr>
          <a:xfrm>
            <a:off x="12823634" y="7786807"/>
            <a:ext cx="1696597" cy="44279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8F8C6A-54FC-B587-B264-20F2A9736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822" y="931193"/>
            <a:ext cx="13298756" cy="3820058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BDF532B1-A5FA-A389-B382-44CB8C4A283E}"/>
              </a:ext>
            </a:extLst>
          </p:cNvPr>
          <p:cNvSpPr txBox="1"/>
          <p:nvPr/>
        </p:nvSpPr>
        <p:spPr>
          <a:xfrm>
            <a:off x="936434" y="418641"/>
            <a:ext cx="48804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/>
              <a:t>Ejercicio en </a:t>
            </a:r>
            <a:r>
              <a:rPr lang="es-MX" dirty="0" err="1"/>
              <a:t>PomQM</a:t>
            </a:r>
            <a:endParaRPr lang="es-MX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85415C5B-C682-238B-2149-A990451A3BAA}"/>
              </a:ext>
            </a:extLst>
          </p:cNvPr>
          <p:cNvSpPr txBox="1"/>
          <p:nvPr/>
        </p:nvSpPr>
        <p:spPr>
          <a:xfrm>
            <a:off x="848299" y="5111292"/>
            <a:ext cx="7315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/>
              <a:t>¿Cómo se resolvió en POM-QM?</a:t>
            </a:r>
          </a:p>
          <a:p>
            <a:pPr>
              <a:buFont typeface="+mj-lt"/>
              <a:buAutoNum type="arabicPeriod"/>
            </a:pPr>
            <a:r>
              <a:rPr lang="es-MX" b="1" dirty="0"/>
              <a:t>Se abrió el módulo “</a:t>
            </a:r>
            <a:r>
              <a:rPr lang="es-MX" b="1" dirty="0" err="1"/>
              <a:t>Assignment</a:t>
            </a:r>
            <a:r>
              <a:rPr lang="es-MX" b="1" dirty="0"/>
              <a:t>”</a:t>
            </a:r>
            <a:r>
              <a:rPr lang="es-MX" dirty="0"/>
              <a:t> en POM-QM </a:t>
            </a:r>
            <a:r>
              <a:rPr lang="es-MX" dirty="0" err="1"/>
              <a:t>for</a:t>
            </a:r>
            <a:r>
              <a:rPr lang="es-MX" dirty="0"/>
              <a:t> Windows.</a:t>
            </a:r>
          </a:p>
          <a:p>
            <a:pPr>
              <a:buFont typeface="+mj-lt"/>
              <a:buAutoNum type="arabicPeriod"/>
            </a:pPr>
            <a:r>
              <a:rPr lang="es-MX" dirty="0"/>
              <a:t>Se ingresaron los valores de la tabla de costos (trabajadores vs. tareas).</a:t>
            </a:r>
          </a:p>
          <a:p>
            <a:pPr>
              <a:buFont typeface="+mj-lt"/>
              <a:buAutoNum type="arabicPeriod"/>
            </a:pPr>
            <a:r>
              <a:rPr lang="es-MX" dirty="0"/>
              <a:t>Se hizo clic en </a:t>
            </a:r>
            <a:r>
              <a:rPr lang="es-MX" b="1" dirty="0"/>
              <a:t>"</a:t>
            </a:r>
            <a:r>
              <a:rPr lang="es-MX" b="1" dirty="0" err="1"/>
              <a:t>Solve</a:t>
            </a:r>
            <a:r>
              <a:rPr lang="es-MX" b="1" dirty="0"/>
              <a:t>"</a:t>
            </a:r>
            <a:r>
              <a:rPr lang="es-MX" dirty="0"/>
              <a:t>, y el programa aplicó el </a:t>
            </a:r>
            <a:r>
              <a:rPr lang="es-MX" b="1" dirty="0"/>
              <a:t>algoritmo de asignación (método húngaro)</a:t>
            </a:r>
            <a:r>
              <a:rPr lang="es-MX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1641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9945" y="590074"/>
            <a:ext cx="5311616" cy="663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Conclusión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229945" y="1572578"/>
            <a:ext cx="7656909" cy="20388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La práctica permitió consolidar el conocimiento en análisis de redes y su aplicación práctica mediante herramientas tecnológicas. El uso de POM-QM facilitó la resolución estructurada de los modelos de transporte, asignación y programación de proyectos, mientras que RStudio permitió una mayor flexibilidad para explorar y visualizar los resultados mediante programación.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6229945" y="3850362"/>
            <a:ext cx="212408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01</a:t>
            </a:r>
            <a:endParaRPr lang="en-US" sz="1650" dirty="0"/>
          </a:p>
        </p:txBody>
      </p:sp>
      <p:sp>
        <p:nvSpPr>
          <p:cNvPr id="6" name="Shape 3"/>
          <p:cNvSpPr/>
          <p:nvPr/>
        </p:nvSpPr>
        <p:spPr>
          <a:xfrm>
            <a:off x="6229945" y="4188500"/>
            <a:ext cx="3722251" cy="2286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7" name="Text 4"/>
          <p:cNvSpPr/>
          <p:nvPr/>
        </p:nvSpPr>
        <p:spPr>
          <a:xfrm>
            <a:off x="6229945" y="4340423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Conceptos clave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6229945" y="4799767"/>
            <a:ext cx="3722251" cy="6796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Grafos, nodos, arcos, costos y tiempos en el análisis de redes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10164604" y="3850362"/>
            <a:ext cx="212408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02</a:t>
            </a:r>
            <a:endParaRPr lang="en-US" sz="1650" dirty="0"/>
          </a:p>
        </p:txBody>
      </p:sp>
      <p:sp>
        <p:nvSpPr>
          <p:cNvPr id="10" name="Shape 7"/>
          <p:cNvSpPr/>
          <p:nvPr/>
        </p:nvSpPr>
        <p:spPr>
          <a:xfrm>
            <a:off x="10164604" y="4188500"/>
            <a:ext cx="3722251" cy="2286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1" name="Text 8"/>
          <p:cNvSpPr/>
          <p:nvPr/>
        </p:nvSpPr>
        <p:spPr>
          <a:xfrm>
            <a:off x="10164604" y="4340423"/>
            <a:ext cx="3059192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Decisiones estratégicas</a:t>
            </a:r>
            <a:endParaRPr lang="en-US" sz="2050" dirty="0"/>
          </a:p>
        </p:txBody>
      </p:sp>
      <p:sp>
        <p:nvSpPr>
          <p:cNvPr id="12" name="Text 9"/>
          <p:cNvSpPr/>
          <p:nvPr/>
        </p:nvSpPr>
        <p:spPr>
          <a:xfrm>
            <a:off x="10164604" y="4799767"/>
            <a:ext cx="3722251" cy="1019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Aplicación en la planificación de operaciones y proyectos empresariales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6229945" y="6190893"/>
            <a:ext cx="212408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DM Sans Light" pitchFamily="34" charset="0"/>
                <a:ea typeface="DM Sans Light" pitchFamily="34" charset="-122"/>
                <a:cs typeface="DM Sans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4" name="Shape 11"/>
          <p:cNvSpPr/>
          <p:nvPr/>
        </p:nvSpPr>
        <p:spPr>
          <a:xfrm>
            <a:off x="6229945" y="6529030"/>
            <a:ext cx="7656909" cy="22860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s-MX"/>
          </a:p>
        </p:txBody>
      </p:sp>
      <p:sp>
        <p:nvSpPr>
          <p:cNvPr id="15" name="Text 12"/>
          <p:cNvSpPr/>
          <p:nvPr/>
        </p:nvSpPr>
        <p:spPr>
          <a:xfrm>
            <a:off x="6229945" y="6680954"/>
            <a:ext cx="2655808" cy="331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Análisis cuantitativo</a:t>
            </a:r>
            <a:endParaRPr lang="en-US" sz="2050" dirty="0"/>
          </a:p>
        </p:txBody>
      </p:sp>
      <p:sp>
        <p:nvSpPr>
          <p:cNvPr id="16" name="Text 13"/>
          <p:cNvSpPr/>
          <p:nvPr/>
        </p:nvSpPr>
        <p:spPr>
          <a:xfrm>
            <a:off x="6229945" y="7140297"/>
            <a:ext cx="7656909" cy="3398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Importancia en la toma de decisiones fundamentadas y eficientes</a:t>
            </a:r>
            <a:endParaRPr lang="en-US" sz="1650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2975E40B-F499-A569-5738-114FCAF1DDB3}"/>
              </a:ext>
            </a:extLst>
          </p:cNvPr>
          <p:cNvSpPr/>
          <p:nvPr/>
        </p:nvSpPr>
        <p:spPr>
          <a:xfrm>
            <a:off x="12823634" y="7786807"/>
            <a:ext cx="1696597" cy="44279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46133"/>
            <a:ext cx="64522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Fuentes de información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2608540"/>
            <a:ext cx="6407944" cy="1603296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4" name="Text 2"/>
          <p:cNvSpPr/>
          <p:nvPr/>
        </p:nvSpPr>
        <p:spPr>
          <a:xfrm>
            <a:off x="1051084" y="2865834"/>
            <a:ext cx="589335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Hillier, F. S., &amp; Lieberman, G. J. (2021). </a:t>
            </a: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Introducción a la Investigación de Operaciones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McGraw-Hill Education.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7428548" y="2608540"/>
            <a:ext cx="6408063" cy="1603296"/>
          </a:xfrm>
          <a:prstGeom prst="roundRect">
            <a:avLst>
              <a:gd name="adj" fmla="val 2122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6" name="Text 4"/>
          <p:cNvSpPr/>
          <p:nvPr/>
        </p:nvSpPr>
        <p:spPr>
          <a:xfrm>
            <a:off x="7685842" y="2865834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Taha, H. A. (2017). </a:t>
            </a: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Operations Research: An Introduction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Pearson.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793790" y="4438650"/>
            <a:ext cx="6407944" cy="1240393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8" name="Text 6"/>
          <p:cNvSpPr/>
          <p:nvPr/>
        </p:nvSpPr>
        <p:spPr>
          <a:xfrm>
            <a:off x="1051084" y="4695944"/>
            <a:ext cx="58933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Render, B., Stair, R. M., &amp; Hanna, M. E. (2017). </a:t>
            </a: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Quantitative Analysis for Management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Pearson.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428548" y="4438650"/>
            <a:ext cx="6408063" cy="1240393"/>
          </a:xfrm>
          <a:prstGeom prst="roundRect">
            <a:avLst>
              <a:gd name="adj" fmla="val 2743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0" name="Text 8"/>
          <p:cNvSpPr/>
          <p:nvPr/>
        </p:nvSpPr>
        <p:spPr>
          <a:xfrm>
            <a:off x="7685842" y="4695944"/>
            <a:ext cx="58934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Heizer, J., Render, B., &amp; Munson, C. (2020). </a:t>
            </a:r>
            <a:r>
              <a:rPr lang="en-US" sz="1750" i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Principios de administración de operaciones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 Pearson.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793790" y="5905857"/>
            <a:ext cx="6407944" cy="877491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2" name="Text 10"/>
          <p:cNvSpPr/>
          <p:nvPr/>
        </p:nvSpPr>
        <p:spPr>
          <a:xfrm>
            <a:off x="1051084" y="6163151"/>
            <a:ext cx="589335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Documentation RStudio. </a:t>
            </a:r>
            <a:r>
              <a:rPr lang="en-US" sz="1750" u="sng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https://posit.co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7428548" y="5905857"/>
            <a:ext cx="6408063" cy="877491"/>
          </a:xfrm>
          <a:prstGeom prst="roundRect">
            <a:avLst>
              <a:gd name="adj" fmla="val 3877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s-MX"/>
          </a:p>
        </p:txBody>
      </p:sp>
      <p:sp>
        <p:nvSpPr>
          <p:cNvPr id="14" name="Text 12"/>
          <p:cNvSpPr/>
          <p:nvPr/>
        </p:nvSpPr>
        <p:spPr>
          <a:xfrm>
            <a:off x="7685842" y="6163151"/>
            <a:ext cx="589347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POM-QM for Windows Software Guide.</a:t>
            </a:r>
            <a:endParaRPr lang="en-US" sz="1750" dirty="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08A93F3D-CA52-545B-EB66-9E9182B225A4}"/>
              </a:ext>
            </a:extLst>
          </p:cNvPr>
          <p:cNvSpPr/>
          <p:nvPr/>
        </p:nvSpPr>
        <p:spPr>
          <a:xfrm>
            <a:off x="12823634" y="7786807"/>
            <a:ext cx="1696597" cy="442793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639</Words>
  <Application>Microsoft Office PowerPoint</Application>
  <PresentationFormat>Personalizado</PresentationFormat>
  <Paragraphs>66</Paragraphs>
  <Slides>7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7</vt:i4>
      </vt:variant>
    </vt:vector>
  </HeadingPairs>
  <TitlesOfParts>
    <vt:vector size="13" baseType="lpstr">
      <vt:lpstr>DM Sans Semi Bold</vt:lpstr>
      <vt:lpstr>DM Sans Light</vt:lpstr>
      <vt:lpstr>Inter Medium</vt:lpstr>
      <vt:lpstr>Courier New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christian estebanmendoza</dc:creator>
  <cp:lastModifiedBy>christian estebanmendoza</cp:lastModifiedBy>
  <cp:revision>2</cp:revision>
  <dcterms:created xsi:type="dcterms:W3CDTF">2025-10-18T07:05:00Z</dcterms:created>
  <dcterms:modified xsi:type="dcterms:W3CDTF">2025-10-18T07:17:39Z</dcterms:modified>
</cp:coreProperties>
</file>